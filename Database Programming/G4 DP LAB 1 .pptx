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6" r:id="rId5"/>
    <p:sldMasterId id="214748367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3210B7-8DDB-4B42-89E4-C10F31F5225E}">
  <a:tblStyle styleId="{103210B7-8DDB-4B42-89E4-C10F31F5225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AE7E7"/>
          </a:solidFill>
        </a:fill>
      </a:tcStyle>
    </a:wholeTbl>
    <a:band1H>
      <a:tcTxStyle/>
      <a:tcStyle>
        <a:fill>
          <a:solidFill>
            <a:srgbClr val="D3CBCC"/>
          </a:solidFill>
        </a:fill>
      </a:tcStyle>
    </a:band1H>
    <a:band2H>
      <a:tcTxStyle/>
    </a:band2H>
    <a:band1V>
      <a:tcTxStyle/>
      <a:tcStyle>
        <a:fill>
          <a:solidFill>
            <a:srgbClr val="D3CBCC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02F6639B-1AB4-4EDE-9493-4892CCA953F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0c957a77b_2_1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a0c957a77b_2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0c957a77b_2_2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a0c957a77b_2_2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0c957a77b_2_2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a0c957a77b_2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0c957a77b_6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a0c957a77b_6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0c957a77b_2_2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a0c957a77b_2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0c957a77b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a0c957a77b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8cf5034f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98cf5034f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8cf5034fd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98cf5034fd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8cf5034fd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98cf5034fd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8cf5034fd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98cf5034fd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0c957a77b_2_7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a0c957a77b_2_7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7973" l="0" r="0" t="26333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0" y="1"/>
            <a:ext cx="9144000" cy="5143500"/>
          </a:xfrm>
          <a:prstGeom prst="rect">
            <a:avLst/>
          </a:prstGeom>
          <a:gradFill>
            <a:gsLst>
              <a:gs pos="0">
                <a:srgbClr val="6C1D35">
                  <a:alpha val="67843"/>
                </a:srgbClr>
              </a:gs>
              <a:gs pos="12000">
                <a:srgbClr val="6C1D35">
                  <a:alpha val="67843"/>
                </a:srgbClr>
              </a:gs>
              <a:gs pos="77000">
                <a:srgbClr val="511527"/>
              </a:gs>
              <a:gs pos="100000">
                <a:srgbClr val="511527"/>
              </a:gs>
            </a:gsLst>
            <a:lin ang="13500000" scaled="0"/>
          </a:gradFill>
          <a:ln cap="flat" cmpd="sng" w="12700">
            <a:solidFill>
              <a:srgbClr val="2D0C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5334000" y="-26311"/>
            <a:ext cx="3688080" cy="519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8451197" y="261820"/>
            <a:ext cx="1507527" cy="2121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>
  <p:cSld name="cover pag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1071031" y="-1071031"/>
            <a:ext cx="5160023" cy="7302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 amt="99000"/>
          </a:blip>
          <a:srcRect b="0" l="0" r="0" t="0"/>
          <a:stretch/>
        </p:blipFill>
        <p:spPr>
          <a:xfrm flipH="1">
            <a:off x="44320" y="0"/>
            <a:ext cx="9055360" cy="233189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 rot="5400000">
            <a:off x="4465158" y="481184"/>
            <a:ext cx="213682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109522" y="4946341"/>
            <a:ext cx="1032976" cy="196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8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www.utm.my</a:t>
            </a:r>
            <a:endParaRPr b="1" i="0" sz="8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grpSp>
        <p:nvGrpSpPr>
          <p:cNvPr id="73" name="Google Shape;73;p16"/>
          <p:cNvGrpSpPr/>
          <p:nvPr/>
        </p:nvGrpSpPr>
        <p:grpSpPr>
          <a:xfrm>
            <a:off x="0" y="0"/>
            <a:ext cx="3552108" cy="5837900"/>
            <a:chOff x="0" y="0"/>
            <a:chExt cx="4736144" cy="7783867"/>
          </a:xfrm>
        </p:grpSpPr>
        <p:pic>
          <p:nvPicPr>
            <p:cNvPr id="74" name="Google Shape;74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3118649" cy="44635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" name="Google Shape;75;p16"/>
            <p:cNvSpPr/>
            <p:nvPr/>
          </p:nvSpPr>
          <p:spPr>
            <a:xfrm rot="8446488">
              <a:off x="1155879" y="3069975"/>
              <a:ext cx="2214654" cy="3120244"/>
            </a:xfrm>
            <a:prstGeom prst="parallelogram">
              <a:avLst>
                <a:gd fmla="val 25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6"/>
            <p:cNvSpPr/>
            <p:nvPr/>
          </p:nvSpPr>
          <p:spPr>
            <a:xfrm rot="8446488">
              <a:off x="2539020" y="5497285"/>
              <a:ext cx="1784436" cy="1941063"/>
            </a:xfrm>
            <a:custGeom>
              <a:rect b="b" l="l" r="r" t="t"/>
              <a:pathLst>
                <a:path extrusionOk="0" h="1941063" w="1784436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594748" y="-796794"/>
            <a:ext cx="1803810" cy="2538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 rotWithShape="1">
          <a:blip r:embed="rId4">
            <a:alphaModFix amt="99000"/>
          </a:blip>
          <a:srcRect b="0" l="0" r="0" t="0"/>
          <a:stretch/>
        </p:blipFill>
        <p:spPr>
          <a:xfrm flipH="1" rot="-5400000">
            <a:off x="-1951711" y="1962080"/>
            <a:ext cx="5285169" cy="1361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212408" y="2807596"/>
            <a:ext cx="1560526" cy="2233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372528" y="4535083"/>
            <a:ext cx="314325" cy="592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5073" y="953"/>
            <a:ext cx="9055360" cy="2331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17"/>
          <p:cNvGrpSpPr/>
          <p:nvPr/>
        </p:nvGrpSpPr>
        <p:grpSpPr>
          <a:xfrm>
            <a:off x="0" y="4829174"/>
            <a:ext cx="3319088" cy="314325"/>
            <a:chOff x="0" y="6438899"/>
            <a:chExt cx="4425450" cy="419100"/>
          </a:xfrm>
        </p:grpSpPr>
        <p:sp>
          <p:nvSpPr>
            <p:cNvPr id="84" name="Google Shape;84;p17"/>
            <p:cNvSpPr/>
            <p:nvPr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7"/>
            <p:cNvSpPr/>
            <p:nvPr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" name="Google Shape;86;p17"/>
          <p:cNvSpPr txBox="1"/>
          <p:nvPr>
            <p:ph type="title"/>
          </p:nvPr>
        </p:nvSpPr>
        <p:spPr>
          <a:xfrm>
            <a:off x="623888" y="785813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623888" y="2110979"/>
            <a:ext cx="7886700" cy="2518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12693"/>
            <a:ext cx="1101125" cy="37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7"/>
          <p:cNvGrpSpPr/>
          <p:nvPr/>
        </p:nvGrpSpPr>
        <p:grpSpPr>
          <a:xfrm>
            <a:off x="0" y="0"/>
            <a:ext cx="1601261" cy="293181"/>
            <a:chOff x="0" y="0"/>
            <a:chExt cx="2135014" cy="390908"/>
          </a:xfrm>
        </p:grpSpPr>
        <p:sp>
          <p:nvSpPr>
            <p:cNvPr id="93" name="Google Shape;93;p17"/>
            <p:cNvSpPr/>
            <p:nvPr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7"/>
            <p:cNvSpPr/>
            <p:nvPr/>
          </p:nvSpPr>
          <p:spPr>
            <a:xfrm flipH="1" rot="10800000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7"/>
          <p:cNvGrpSpPr/>
          <p:nvPr/>
        </p:nvGrpSpPr>
        <p:grpSpPr>
          <a:xfrm>
            <a:off x="8947791" y="3675049"/>
            <a:ext cx="196209" cy="1092214"/>
            <a:chOff x="-7479" y="4982614"/>
            <a:chExt cx="261612" cy="1456285"/>
          </a:xfrm>
        </p:grpSpPr>
        <p:sp>
          <p:nvSpPr>
            <p:cNvPr id="96" name="Google Shape;96;p17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7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8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5073" y="953"/>
            <a:ext cx="9055360" cy="233189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>
            <p:ph type="ctrTitle"/>
          </p:nvPr>
        </p:nvSpPr>
        <p:spPr>
          <a:xfrm>
            <a:off x="1143000" y="841772"/>
            <a:ext cx="6858000" cy="1035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" type="subTitle"/>
          </p:nvPr>
        </p:nvSpPr>
        <p:spPr>
          <a:xfrm>
            <a:off x="1143000" y="1950839"/>
            <a:ext cx="6858000" cy="2596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02" name="Google Shape;10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12693"/>
            <a:ext cx="1101125" cy="37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18"/>
          <p:cNvGrpSpPr/>
          <p:nvPr/>
        </p:nvGrpSpPr>
        <p:grpSpPr>
          <a:xfrm>
            <a:off x="0" y="252650"/>
            <a:ext cx="628650" cy="293181"/>
            <a:chOff x="0" y="585597"/>
            <a:chExt cx="838200" cy="390908"/>
          </a:xfrm>
        </p:grpSpPr>
        <p:sp>
          <p:nvSpPr>
            <p:cNvPr id="107" name="Google Shape;107;p18"/>
            <p:cNvSpPr/>
            <p:nvPr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8"/>
            <p:cNvSpPr/>
            <p:nvPr/>
          </p:nvSpPr>
          <p:spPr>
            <a:xfrm flipH="1" rot="10800000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8"/>
          <p:cNvGrpSpPr/>
          <p:nvPr/>
        </p:nvGrpSpPr>
        <p:grpSpPr>
          <a:xfrm>
            <a:off x="8947791" y="3675049"/>
            <a:ext cx="196209" cy="1092214"/>
            <a:chOff x="-7479" y="4982614"/>
            <a:chExt cx="261612" cy="1456285"/>
          </a:xfrm>
        </p:grpSpPr>
        <p:sp>
          <p:nvSpPr>
            <p:cNvPr id="110" name="Google Shape;110;p18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8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8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952"/>
            <a:ext cx="5334040" cy="137359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2920816" y="16073"/>
            <a:ext cx="3345126" cy="19238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12693"/>
            <a:ext cx="1101125" cy="37309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/>
          <p:nvPr/>
        </p:nvSpPr>
        <p:spPr>
          <a:xfrm>
            <a:off x="-1" y="5106497"/>
            <a:ext cx="9186760" cy="8173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9"/>
          <p:cNvGrpSpPr/>
          <p:nvPr/>
        </p:nvGrpSpPr>
        <p:grpSpPr>
          <a:xfrm>
            <a:off x="8947791" y="3675049"/>
            <a:ext cx="196209" cy="1092214"/>
            <a:chOff x="-7479" y="4982614"/>
            <a:chExt cx="261612" cy="1456285"/>
          </a:xfrm>
        </p:grpSpPr>
        <p:sp>
          <p:nvSpPr>
            <p:cNvPr id="123" name="Google Shape;123;p19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9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8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952"/>
            <a:ext cx="5334040" cy="137359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-28575" y="1268016"/>
            <a:ext cx="9172575" cy="3875484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12693"/>
            <a:ext cx="1101125" cy="37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20"/>
          <p:cNvGrpSpPr/>
          <p:nvPr/>
        </p:nvGrpSpPr>
        <p:grpSpPr>
          <a:xfrm>
            <a:off x="8947791" y="3675049"/>
            <a:ext cx="196209" cy="1092214"/>
            <a:chOff x="-7479" y="4982614"/>
            <a:chExt cx="261612" cy="1456285"/>
          </a:xfrm>
        </p:grpSpPr>
        <p:sp>
          <p:nvSpPr>
            <p:cNvPr id="136" name="Google Shape;136;p20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0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8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1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5073" y="953"/>
            <a:ext cx="9055360" cy="233189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2" name="Google Shape;142;p21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44" name="Google Shape;144;p21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5" name="Google Shape;145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12693"/>
            <a:ext cx="1101125" cy="37309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/>
          <p:nvPr/>
        </p:nvSpPr>
        <p:spPr>
          <a:xfrm>
            <a:off x="5073" y="256699"/>
            <a:ext cx="7702229" cy="3428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" name="Google Shape;150;p21"/>
          <p:cNvGrpSpPr/>
          <p:nvPr/>
        </p:nvGrpSpPr>
        <p:grpSpPr>
          <a:xfrm>
            <a:off x="8947791" y="3675049"/>
            <a:ext cx="196209" cy="1092214"/>
            <a:chOff x="-7479" y="4982614"/>
            <a:chExt cx="261612" cy="1456285"/>
          </a:xfrm>
        </p:grpSpPr>
        <p:sp>
          <p:nvSpPr>
            <p:cNvPr id="151" name="Google Shape;151;p21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21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8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5073" y="953"/>
            <a:ext cx="9055360" cy="2331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22"/>
          <p:cNvGrpSpPr/>
          <p:nvPr/>
        </p:nvGrpSpPr>
        <p:grpSpPr>
          <a:xfrm flipH="1">
            <a:off x="6672359" y="4829174"/>
            <a:ext cx="2471641" cy="314326"/>
            <a:chOff x="0" y="6438899"/>
            <a:chExt cx="4425450" cy="419100"/>
          </a:xfrm>
        </p:grpSpPr>
        <p:sp>
          <p:nvSpPr>
            <p:cNvPr id="156" name="Google Shape;156;p22"/>
            <p:cNvSpPr/>
            <p:nvPr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2"/>
            <p:cNvSpPr/>
            <p:nvPr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22"/>
          <p:cNvSpPr txBox="1"/>
          <p:nvPr>
            <p:ph type="title"/>
          </p:nvPr>
        </p:nvSpPr>
        <p:spPr>
          <a:xfrm>
            <a:off x="1023731" y="20746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62" name="Google Shape;1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12693"/>
            <a:ext cx="1101125" cy="37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22"/>
          <p:cNvGrpSpPr/>
          <p:nvPr/>
        </p:nvGrpSpPr>
        <p:grpSpPr>
          <a:xfrm>
            <a:off x="8947791" y="3675049"/>
            <a:ext cx="196209" cy="1092214"/>
            <a:chOff x="-7479" y="4982614"/>
            <a:chExt cx="261612" cy="1456285"/>
          </a:xfrm>
        </p:grpSpPr>
        <p:sp>
          <p:nvSpPr>
            <p:cNvPr id="164" name="Google Shape;164;p22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2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8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3534946" y="952"/>
            <a:ext cx="5334040" cy="137359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/>
          <p:nvPr/>
        </p:nvSpPr>
        <p:spPr>
          <a:xfrm>
            <a:off x="-28574" y="0"/>
            <a:ext cx="3573066" cy="51435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3"/>
          <p:cNvSpPr txBox="1"/>
          <p:nvPr>
            <p:ph type="title"/>
          </p:nvPr>
        </p:nvSpPr>
        <p:spPr>
          <a:xfrm>
            <a:off x="629841" y="342900"/>
            <a:ext cx="2828977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1" name="Google Shape;171;p23"/>
          <p:cNvSpPr txBox="1"/>
          <p:nvPr>
            <p:ph idx="2" type="body"/>
          </p:nvPr>
        </p:nvSpPr>
        <p:spPr>
          <a:xfrm>
            <a:off x="629841" y="1543050"/>
            <a:ext cx="2828977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72" name="Google Shape;172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75" name="Google Shape;1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12693"/>
            <a:ext cx="1101125" cy="37309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/>
          <p:nvPr/>
        </p:nvSpPr>
        <p:spPr>
          <a:xfrm rot="5400000">
            <a:off x="993214" y="2549388"/>
            <a:ext cx="5143500" cy="4472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23"/>
          <p:cNvGrpSpPr/>
          <p:nvPr/>
        </p:nvGrpSpPr>
        <p:grpSpPr>
          <a:xfrm>
            <a:off x="8947791" y="3675049"/>
            <a:ext cx="196209" cy="1092214"/>
            <a:chOff x="-7479" y="4982614"/>
            <a:chExt cx="261612" cy="1456285"/>
          </a:xfrm>
        </p:grpSpPr>
        <p:sp>
          <p:nvSpPr>
            <p:cNvPr id="178" name="Google Shape;178;p23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23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8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color" type="blank">
  <p:cSld name="BLANK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/>
          <p:nvPr/>
        </p:nvSpPr>
        <p:spPr>
          <a:xfrm>
            <a:off x="-28575" y="0"/>
            <a:ext cx="9172575" cy="51435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24"/>
          <p:cNvGrpSpPr/>
          <p:nvPr/>
        </p:nvGrpSpPr>
        <p:grpSpPr>
          <a:xfrm>
            <a:off x="5385089" y="4855181"/>
            <a:ext cx="3758911" cy="293183"/>
            <a:chOff x="7180118" y="6489891"/>
            <a:chExt cx="5011881" cy="390911"/>
          </a:xfrm>
        </p:grpSpPr>
        <p:sp>
          <p:nvSpPr>
            <p:cNvPr id="183" name="Google Shape;183;p24"/>
            <p:cNvSpPr/>
            <p:nvPr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24"/>
            <p:cNvSpPr/>
            <p:nvPr/>
          </p:nvSpPr>
          <p:spPr>
            <a:xfrm flipH="1">
              <a:off x="7180118" y="6489895"/>
              <a:ext cx="213299" cy="390907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5" name="Google Shape;18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57165" y="212692"/>
            <a:ext cx="1103119" cy="37309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grpSp>
        <p:nvGrpSpPr>
          <p:cNvPr id="189" name="Google Shape;189;p24"/>
          <p:cNvGrpSpPr/>
          <p:nvPr/>
        </p:nvGrpSpPr>
        <p:grpSpPr>
          <a:xfrm>
            <a:off x="-44161" y="0"/>
            <a:ext cx="1598115" cy="293181"/>
            <a:chOff x="-58882" y="0"/>
            <a:chExt cx="2130820" cy="390908"/>
          </a:xfrm>
        </p:grpSpPr>
        <p:sp>
          <p:nvSpPr>
            <p:cNvPr id="190" name="Google Shape;190;p24"/>
            <p:cNvSpPr/>
            <p:nvPr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24"/>
            <p:cNvSpPr/>
            <p:nvPr/>
          </p:nvSpPr>
          <p:spPr>
            <a:xfrm flipH="1" rot="10800000">
              <a:off x="1858639" y="0"/>
              <a:ext cx="213299" cy="390907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24"/>
          <p:cNvGrpSpPr/>
          <p:nvPr/>
        </p:nvGrpSpPr>
        <p:grpSpPr>
          <a:xfrm>
            <a:off x="8947791" y="3675049"/>
            <a:ext cx="196209" cy="1092214"/>
            <a:chOff x="-7479" y="4982614"/>
            <a:chExt cx="261612" cy="1456285"/>
          </a:xfrm>
        </p:grpSpPr>
        <p:sp>
          <p:nvSpPr>
            <p:cNvPr id="193" name="Google Shape;193;p24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4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8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952"/>
            <a:ext cx="5334040" cy="137359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200" name="Google Shape;20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12693"/>
            <a:ext cx="1101125" cy="37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25"/>
          <p:cNvGrpSpPr/>
          <p:nvPr/>
        </p:nvGrpSpPr>
        <p:grpSpPr>
          <a:xfrm>
            <a:off x="8947791" y="3675049"/>
            <a:ext cx="196209" cy="1092214"/>
            <a:chOff x="-7479" y="4982614"/>
            <a:chExt cx="261612" cy="1456285"/>
          </a:xfrm>
        </p:grpSpPr>
        <p:sp>
          <p:nvSpPr>
            <p:cNvPr id="202" name="Google Shape;202;p25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5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8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952"/>
            <a:ext cx="5334040" cy="137359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7" name="Google Shape;207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8" name="Google Shape;208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209" name="Google Shape;20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12693"/>
            <a:ext cx="1101125" cy="37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26"/>
          <p:cNvGrpSpPr/>
          <p:nvPr/>
        </p:nvGrpSpPr>
        <p:grpSpPr>
          <a:xfrm>
            <a:off x="8947791" y="3675049"/>
            <a:ext cx="196209" cy="1092214"/>
            <a:chOff x="-7479" y="4982614"/>
            <a:chExt cx="261612" cy="1456285"/>
          </a:xfrm>
        </p:grpSpPr>
        <p:sp>
          <p:nvSpPr>
            <p:cNvPr id="211" name="Google Shape;211;p26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6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8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26"/>
          <p:cNvSpPr/>
          <p:nvPr/>
        </p:nvSpPr>
        <p:spPr>
          <a:xfrm rot="5400000">
            <a:off x="4559929" y="-4564571"/>
            <a:ext cx="3428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6"/>
          <p:cNvSpPr txBox="1"/>
          <p:nvPr>
            <p:ph type="title"/>
          </p:nvPr>
        </p:nvSpPr>
        <p:spPr>
          <a:xfrm>
            <a:off x="628649" y="585788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5074" y="952"/>
            <a:ext cx="5334040" cy="137359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8" name="Google Shape;218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220" name="Google Shape;22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9159" y="212693"/>
            <a:ext cx="1101125" cy="373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27"/>
          <p:cNvGrpSpPr/>
          <p:nvPr/>
        </p:nvGrpSpPr>
        <p:grpSpPr>
          <a:xfrm>
            <a:off x="8947791" y="3675049"/>
            <a:ext cx="196209" cy="1092214"/>
            <a:chOff x="-7479" y="4982614"/>
            <a:chExt cx="261612" cy="1456285"/>
          </a:xfrm>
        </p:grpSpPr>
        <p:sp>
          <p:nvSpPr>
            <p:cNvPr id="222" name="Google Shape;222;p27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7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zh-CN" sz="800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27"/>
          <p:cNvSpPr/>
          <p:nvPr/>
        </p:nvSpPr>
        <p:spPr>
          <a:xfrm rot="5400000">
            <a:off x="4554854" y="570881"/>
            <a:ext cx="34289" cy="9144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7"/>
          <p:cNvSpPr txBox="1"/>
          <p:nvPr>
            <p:ph type="title"/>
          </p:nvPr>
        </p:nvSpPr>
        <p:spPr>
          <a:xfrm>
            <a:off x="628649" y="585788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229" name="Google Shape;229;p28"/>
          <p:cNvCxnSpPr/>
          <p:nvPr/>
        </p:nvCxnSpPr>
        <p:spPr>
          <a:xfrm>
            <a:off x="-9525" y="762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3">
  <p:cSld name="Layout23"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2" name="Google Shape;232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233" name="Google Shape;233;p29"/>
          <p:cNvSpPr/>
          <p:nvPr/>
        </p:nvSpPr>
        <p:spPr>
          <a:xfrm rot="5400000">
            <a:off x="4553070" y="413672"/>
            <a:ext cx="34289" cy="877609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page">
  <p:cSld name="end page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/>
          <p:nvPr/>
        </p:nvSpPr>
        <p:spPr>
          <a:xfrm>
            <a:off x="0" y="-1"/>
            <a:ext cx="9172575" cy="51435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30"/>
          <p:cNvPicPr preferRelativeResize="0"/>
          <p:nvPr/>
        </p:nvPicPr>
        <p:blipFill rotWithShape="1">
          <a:blip r:embed="rId2">
            <a:alphaModFix amt="32000"/>
          </a:blip>
          <a:srcRect b="0" l="20647" r="0" t="0"/>
          <a:stretch/>
        </p:blipFill>
        <p:spPr>
          <a:xfrm rot="-5400000">
            <a:off x="2014537" y="-2014538"/>
            <a:ext cx="5143500" cy="917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/>
        </p:nvSpPr>
        <p:spPr>
          <a:xfrm>
            <a:off x="2611058" y="2537851"/>
            <a:ext cx="4457700" cy="3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Lab Assignment 1 (5%) - Indexes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2512005" y="1851227"/>
            <a:ext cx="4457700" cy="715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SECP3623 - DATABASE PROGRAMMING</a:t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2025/2026 - SEM 1</a:t>
            </a:r>
            <a:endParaRPr b="0" i="0" sz="2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1"/>
          <p:cNvSpPr txBox="1"/>
          <p:nvPr/>
        </p:nvSpPr>
        <p:spPr>
          <a:xfrm>
            <a:off x="1944021" y="1280783"/>
            <a:ext cx="5791775" cy="530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UNIVERSITI TEKNOLOGI MALAYSIA</a:t>
            </a:r>
            <a:endParaRPr sz="1100"/>
          </a:p>
        </p:txBody>
      </p:sp>
      <p:pic>
        <p:nvPicPr>
          <p:cNvPr id="247" name="Google Shape;24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9845" y="604556"/>
            <a:ext cx="1604584" cy="54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31"/>
          <p:cNvGrpSpPr/>
          <p:nvPr/>
        </p:nvGrpSpPr>
        <p:grpSpPr>
          <a:xfrm>
            <a:off x="182761" y="2256114"/>
            <a:ext cx="628650" cy="631270"/>
            <a:chOff x="0" y="585597"/>
            <a:chExt cx="838200" cy="390908"/>
          </a:xfrm>
        </p:grpSpPr>
        <p:sp>
          <p:nvSpPr>
            <p:cNvPr id="249" name="Google Shape;249;p31"/>
            <p:cNvSpPr/>
            <p:nvPr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 flipH="1" rot="10800000">
              <a:off x="624901" y="585597"/>
              <a:ext cx="213299" cy="390907"/>
            </a:xfrm>
            <a:prstGeom prst="rtTriangle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31"/>
          <p:cNvGrpSpPr/>
          <p:nvPr/>
        </p:nvGrpSpPr>
        <p:grpSpPr>
          <a:xfrm>
            <a:off x="0" y="2256115"/>
            <a:ext cx="628650" cy="631271"/>
            <a:chOff x="0" y="585597"/>
            <a:chExt cx="838200" cy="390908"/>
          </a:xfrm>
        </p:grpSpPr>
        <p:sp>
          <p:nvSpPr>
            <p:cNvPr id="252" name="Google Shape;252;p31"/>
            <p:cNvSpPr/>
            <p:nvPr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 flipH="1" rot="10800000">
              <a:off x="624901" y="585597"/>
              <a:ext cx="213299" cy="390907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4" name="Google Shape;25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9885" y="4787497"/>
            <a:ext cx="1894115" cy="1425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p31"/>
          <p:cNvCxnSpPr>
            <a:endCxn id="254" idx="1"/>
          </p:cNvCxnSpPr>
          <p:nvPr/>
        </p:nvCxnSpPr>
        <p:spPr>
          <a:xfrm>
            <a:off x="-35315" y="4836269"/>
            <a:ext cx="7285200" cy="225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56" name="Google Shape;256;p31"/>
          <p:cNvGraphicFramePr/>
          <p:nvPr/>
        </p:nvGraphicFramePr>
        <p:xfrm>
          <a:off x="2369543" y="3177435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{103210B7-8DDB-4B42-89E4-C10F31F5225E}</a:tableStyleId>
              </a:tblPr>
              <a:tblGrid>
                <a:gridCol w="708650"/>
                <a:gridCol w="223425"/>
                <a:gridCol w="3472800"/>
              </a:tblGrid>
              <a:tr h="17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 </a:t>
                      </a:r>
                      <a:r>
                        <a:rPr lang="zh-CN" sz="900">
                          <a:solidFill>
                            <a:schemeClr val="dk1"/>
                          </a:solidFill>
                        </a:rPr>
                        <a:t>ELIJAH SHE YU SHENG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</a:tr>
              <a:tr h="17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Matric Id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 A2</a:t>
                      </a:r>
                      <a:r>
                        <a:rPr lang="zh-CN" sz="900"/>
                        <a:t>3CS0073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7" name="Google Shape;257;p31"/>
          <p:cNvGraphicFramePr/>
          <p:nvPr/>
        </p:nvGraphicFramePr>
        <p:xfrm>
          <a:off x="2369542" y="3663515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{103210B7-8DDB-4B42-89E4-C10F31F5225E}</a:tableStyleId>
              </a:tblPr>
              <a:tblGrid>
                <a:gridCol w="708650"/>
                <a:gridCol w="223425"/>
                <a:gridCol w="3472800"/>
              </a:tblGrid>
              <a:tr h="17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 </a:t>
                      </a:r>
                      <a:r>
                        <a:rPr lang="zh-CN" sz="900">
                          <a:solidFill>
                            <a:schemeClr val="dk1"/>
                          </a:solidFill>
                        </a:rPr>
                        <a:t>CHUA JIA LIN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</a:tr>
              <a:tr h="17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Matric Id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 A23CS0069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8" name="Google Shape;258;p31"/>
          <p:cNvGraphicFramePr/>
          <p:nvPr/>
        </p:nvGraphicFramePr>
        <p:xfrm>
          <a:off x="2369542" y="4168518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{103210B7-8DDB-4B42-89E4-C10F31F5225E}</a:tableStyleId>
              </a:tblPr>
              <a:tblGrid>
                <a:gridCol w="708650"/>
                <a:gridCol w="223425"/>
                <a:gridCol w="3472800"/>
              </a:tblGrid>
              <a:tr h="17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 CHERYL CHEONG KAH VOON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</a:tr>
              <a:tr h="17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Matric Id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: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>
                          <a:solidFill>
                            <a:schemeClr val="dk1"/>
                          </a:solidFill>
                        </a:rPr>
                        <a:t> A23CS0060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51425" marL="51425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/>
          <p:nvPr/>
        </p:nvSpPr>
        <p:spPr>
          <a:xfrm>
            <a:off x="2940021" y="2569845"/>
            <a:ext cx="4457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B-TREE INDEXES </a:t>
            </a:r>
            <a:endParaRPr b="1" sz="3600"/>
          </a:p>
        </p:txBody>
      </p:sp>
      <p:sp>
        <p:nvSpPr>
          <p:cNvPr id="264" name="Google Shape;264;p32"/>
          <p:cNvSpPr txBox="1"/>
          <p:nvPr/>
        </p:nvSpPr>
        <p:spPr>
          <a:xfrm>
            <a:off x="2946861" y="3319175"/>
            <a:ext cx="3315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SECTION 2 - GROUP 4</a:t>
            </a:r>
            <a:endParaRPr sz="1100"/>
          </a:p>
        </p:txBody>
      </p:sp>
      <p:sp>
        <p:nvSpPr>
          <p:cNvPr id="265" name="Google Shape;265;p32"/>
          <p:cNvSpPr txBox="1"/>
          <p:nvPr/>
        </p:nvSpPr>
        <p:spPr>
          <a:xfrm>
            <a:off x="2940025" y="1805425"/>
            <a:ext cx="5674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3000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rPr>
              <a:t>UNIVERSITI TEKNOLOGI MALAYSIA</a:t>
            </a:r>
            <a:endParaRPr sz="1100"/>
          </a:p>
        </p:txBody>
      </p:sp>
      <p:pic>
        <p:nvPicPr>
          <p:cNvPr id="266" name="Google Shape;2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9596" y="258317"/>
            <a:ext cx="1687055" cy="563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2786" y="4897430"/>
            <a:ext cx="1545091" cy="1162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32"/>
          <p:cNvCxnSpPr/>
          <p:nvPr/>
        </p:nvCxnSpPr>
        <p:spPr>
          <a:xfrm>
            <a:off x="0" y="4970155"/>
            <a:ext cx="7715249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 txBox="1"/>
          <p:nvPr>
            <p:ph type="title"/>
          </p:nvPr>
        </p:nvSpPr>
        <p:spPr>
          <a:xfrm>
            <a:off x="623900" y="785819"/>
            <a:ext cx="78867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zh-CN"/>
              <a:t>What is B-Tree index?</a:t>
            </a:r>
            <a:endParaRPr b="1"/>
          </a:p>
        </p:txBody>
      </p:sp>
      <p:sp>
        <p:nvSpPr>
          <p:cNvPr id="274" name="Google Shape;274;p33"/>
          <p:cNvSpPr txBox="1"/>
          <p:nvPr/>
        </p:nvSpPr>
        <p:spPr>
          <a:xfrm>
            <a:off x="4572000" y="1484350"/>
            <a:ext cx="4197300" cy="2070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CN" sz="1100">
                <a:solidFill>
                  <a:schemeClr val="dk1"/>
                </a:solidFill>
              </a:rPr>
              <a:t>B-tree stores </a:t>
            </a:r>
            <a:r>
              <a:rPr b="1" lang="zh-CN" sz="1100">
                <a:solidFill>
                  <a:schemeClr val="dk1"/>
                </a:solidFill>
              </a:rPr>
              <a:t>sorted data</a:t>
            </a:r>
            <a:r>
              <a:rPr lang="zh-CN" sz="1100">
                <a:solidFill>
                  <a:schemeClr val="dk1"/>
                </a:solidFill>
              </a:rPr>
              <a:t> for fast search, insert, and delete.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CN" sz="1100">
                <a:solidFill>
                  <a:schemeClr val="dk1"/>
                </a:solidFill>
              </a:rPr>
              <a:t>Used in systems that handle </a:t>
            </a:r>
            <a:r>
              <a:rPr b="1" lang="zh-CN" sz="1100">
                <a:solidFill>
                  <a:schemeClr val="dk1"/>
                </a:solidFill>
              </a:rPr>
              <a:t>large data blocks</a:t>
            </a:r>
            <a:r>
              <a:rPr lang="zh-CN" sz="1100">
                <a:solidFill>
                  <a:schemeClr val="dk1"/>
                </a:solidFill>
              </a:rPr>
              <a:t>.</a:t>
            </a:r>
            <a:br>
              <a:rPr lang="zh-C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CN" sz="1100">
                <a:solidFill>
                  <a:schemeClr val="dk1"/>
                </a:solidFill>
              </a:rPr>
              <a:t>Each node can have </a:t>
            </a:r>
            <a:r>
              <a:rPr b="1" lang="zh-CN" sz="1100">
                <a:solidFill>
                  <a:schemeClr val="dk1"/>
                </a:solidFill>
              </a:rPr>
              <a:t>multiple keys</a:t>
            </a:r>
            <a:r>
              <a:rPr lang="zh-CN" sz="1100">
                <a:solidFill>
                  <a:schemeClr val="dk1"/>
                </a:solidFill>
              </a:rPr>
              <a:t> (</a:t>
            </a:r>
            <a:r>
              <a:rPr lang="zh-CN" sz="1100">
                <a:solidFill>
                  <a:schemeClr val="dk1"/>
                </a:solidFill>
                <a:highlight>
                  <a:srgbClr val="FFFF00"/>
                </a:highlight>
              </a:rPr>
              <a:t>not just two</a:t>
            </a:r>
            <a:r>
              <a:rPr lang="zh-CN" sz="1100">
                <a:solidFill>
                  <a:schemeClr val="dk1"/>
                </a:solidFill>
              </a:rPr>
              <a:t>).</a:t>
            </a:r>
            <a:br>
              <a:rPr lang="zh-C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CN" sz="1100">
                <a:solidFill>
                  <a:schemeClr val="dk1"/>
                </a:solidFill>
              </a:rPr>
              <a:t>Keys in a node are stored in </a:t>
            </a:r>
            <a:r>
              <a:rPr b="1" lang="zh-CN" sz="1100">
                <a:solidFill>
                  <a:schemeClr val="dk1"/>
                </a:solidFill>
              </a:rPr>
              <a:t>ascending order</a:t>
            </a:r>
            <a:r>
              <a:rPr lang="zh-CN" sz="1100">
                <a:solidFill>
                  <a:schemeClr val="dk1"/>
                </a:solidFill>
              </a:rPr>
              <a:t>.</a:t>
            </a:r>
            <a:br>
              <a:rPr lang="zh-C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  <a:highlight>
                  <a:srgbClr val="FFFF00"/>
                </a:highlight>
              </a:rPr>
              <a:t>Left child &lt; key &lt; right child</a:t>
            </a:r>
            <a:r>
              <a:rPr lang="zh-CN" sz="1100">
                <a:solidFill>
                  <a:schemeClr val="dk1"/>
                </a:solidFill>
              </a:rPr>
              <a:t> rule applies.</a:t>
            </a:r>
            <a:br>
              <a:rPr lang="zh-C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CN" sz="1100">
                <a:solidFill>
                  <a:schemeClr val="dk1"/>
                </a:solidFill>
              </a:rPr>
              <a:t>A node with </a:t>
            </a:r>
            <a:r>
              <a:rPr b="1" lang="zh-CN" sz="1100">
                <a:solidFill>
                  <a:schemeClr val="dk1"/>
                </a:solidFill>
                <a:highlight>
                  <a:srgbClr val="FF9900"/>
                </a:highlight>
              </a:rPr>
              <a:t>n keys</a:t>
            </a:r>
            <a:r>
              <a:rPr lang="zh-CN" sz="1100">
                <a:solidFill>
                  <a:schemeClr val="dk1"/>
                </a:solidFill>
              </a:rPr>
              <a:t> can have up to</a:t>
            </a:r>
            <a:r>
              <a:rPr lang="zh-CN" sz="1100">
                <a:solidFill>
                  <a:schemeClr val="dk1"/>
                </a:solidFill>
                <a:highlight>
                  <a:srgbClr val="FF9900"/>
                </a:highlight>
              </a:rPr>
              <a:t> </a:t>
            </a:r>
            <a:r>
              <a:rPr b="1" lang="zh-CN" sz="1100">
                <a:solidFill>
                  <a:schemeClr val="dk1"/>
                </a:solidFill>
                <a:highlight>
                  <a:srgbClr val="FF9900"/>
                </a:highlight>
              </a:rPr>
              <a:t>n + 1 children</a:t>
            </a:r>
            <a:r>
              <a:rPr lang="zh-C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5514" y="4945704"/>
            <a:ext cx="1463448" cy="110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750" y="1892688"/>
            <a:ext cx="3843176" cy="135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/>
        </p:nvSpPr>
        <p:spPr>
          <a:xfrm>
            <a:off x="702125" y="1520375"/>
            <a:ext cx="34290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</a:rPr>
              <a:t>Fast searching, insertion, and deletion : </a:t>
            </a:r>
            <a:r>
              <a:rPr lang="zh-CN" sz="1100">
                <a:solidFill>
                  <a:schemeClr val="dk1"/>
                </a:solidFill>
              </a:rPr>
              <a:t> operations are efficient (O log n).</a:t>
            </a:r>
            <a:br>
              <a:rPr lang="zh-C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</a:rPr>
              <a:t>Sorted data access</a:t>
            </a:r>
            <a:r>
              <a:rPr lang="zh-CN" sz="1100">
                <a:solidFill>
                  <a:schemeClr val="dk1"/>
                </a:solidFill>
              </a:rPr>
              <a:t> : supports both random and sequential access.</a:t>
            </a:r>
            <a:br>
              <a:rPr lang="zh-C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</a:rPr>
              <a:t>Balanced structure</a:t>
            </a:r>
            <a:r>
              <a:rPr lang="zh-CN" sz="1100">
                <a:solidFill>
                  <a:schemeClr val="dk1"/>
                </a:solidFill>
              </a:rPr>
              <a:t> : keeps data evenly distributed, avoiding long branches.</a:t>
            </a:r>
            <a:br>
              <a:rPr lang="zh-C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4"/>
          <p:cNvSpPr txBox="1"/>
          <p:nvPr>
            <p:ph type="ctrTitle"/>
          </p:nvPr>
        </p:nvSpPr>
        <p:spPr>
          <a:xfrm>
            <a:off x="976100" y="817274"/>
            <a:ext cx="68580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zh-CN"/>
              <a:t>Advantages, Disadvantages &amp; Comparison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83" name="Google Shape;28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5513" y="4945704"/>
            <a:ext cx="1463451" cy="11013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4"/>
          <p:cNvSpPr txBox="1"/>
          <p:nvPr/>
        </p:nvSpPr>
        <p:spPr>
          <a:xfrm>
            <a:off x="4710800" y="1520375"/>
            <a:ext cx="36912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</a:rPr>
              <a:t>Slower for small datasets</a:t>
            </a:r>
            <a:r>
              <a:rPr lang="zh-CN" sz="1100">
                <a:solidFill>
                  <a:schemeClr val="dk1"/>
                </a:solidFill>
              </a:rPr>
              <a:t> : overhead may not be worth it.</a:t>
            </a:r>
            <a:br>
              <a:rPr lang="zh-C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</a:rPr>
              <a:t>More complex to maintain</a:t>
            </a:r>
            <a:r>
              <a:rPr lang="zh-CN" sz="1100">
                <a:solidFill>
                  <a:schemeClr val="dk1"/>
                </a:solidFill>
              </a:rPr>
              <a:t> than simple indexes.</a:t>
            </a:r>
            <a:br>
              <a:rPr lang="zh-C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</a:rPr>
              <a:t>Higher memory and storage use</a:t>
            </a:r>
            <a:r>
              <a:rPr lang="zh-CN" sz="1100">
                <a:solidFill>
                  <a:schemeClr val="dk1"/>
                </a:solidFill>
              </a:rPr>
              <a:t> : needs extra space for tree structure.</a:t>
            </a:r>
            <a:br>
              <a:rPr lang="zh-C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285" name="Google Shape;285;p34"/>
          <p:cNvSpPr txBox="1"/>
          <p:nvPr/>
        </p:nvSpPr>
        <p:spPr>
          <a:xfrm>
            <a:off x="596000" y="3110575"/>
            <a:ext cx="7618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  <a:highlight>
                  <a:srgbClr val="FFFF00"/>
                </a:highlight>
              </a:rPr>
              <a:t>B-tree vs Bitmap</a:t>
            </a:r>
            <a:r>
              <a:rPr b="1" lang="zh-CN" sz="1100">
                <a:solidFill>
                  <a:schemeClr val="dk1"/>
                </a:solidFill>
              </a:rPr>
              <a:t>:</a:t>
            </a:r>
            <a:r>
              <a:rPr lang="zh-CN" sz="1100">
                <a:solidFill>
                  <a:schemeClr val="dk1"/>
                </a:solidFill>
              </a:rPr>
              <a:t> B-tree is better for frequent updates; Bitmap is better for columns with few distinct values.</a:t>
            </a:r>
            <a:br>
              <a:rPr lang="zh-C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  <a:highlight>
                  <a:srgbClr val="FFFF00"/>
                </a:highlight>
              </a:rPr>
              <a:t>B-tree vs Text/Full-text:</a:t>
            </a:r>
            <a:r>
              <a:rPr lang="zh-CN" sz="1100">
                <a:solidFill>
                  <a:schemeClr val="dk1"/>
                </a:solidFill>
              </a:rPr>
              <a:t> B-tree is for exact or range lookups; Full-text is for word or phrase searches.</a:t>
            </a:r>
            <a:br>
              <a:rPr lang="zh-C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  <a:highlight>
                  <a:srgbClr val="FFFF00"/>
                </a:highlight>
              </a:rPr>
              <a:t>B-tree vs Multicolumn:</a:t>
            </a:r>
            <a:r>
              <a:rPr lang="zh-CN" sz="1100">
                <a:solidFill>
                  <a:schemeClr val="dk1"/>
                </a:solidFill>
              </a:rPr>
              <a:t> B-tree handles single-column well; Multicolumn optimizes combined-column queries.</a:t>
            </a:r>
            <a:br>
              <a:rPr lang="zh-C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CN" sz="1100">
                <a:solidFill>
                  <a:schemeClr val="dk1"/>
                </a:solidFill>
                <a:highlight>
                  <a:srgbClr val="FFFF00"/>
                </a:highlight>
              </a:rPr>
              <a:t>B-tree vs Unique</a:t>
            </a:r>
            <a:r>
              <a:rPr b="1" lang="zh-CN" sz="1100">
                <a:solidFill>
                  <a:schemeClr val="dk1"/>
                </a:solidFill>
              </a:rPr>
              <a:t>:</a:t>
            </a:r>
            <a:r>
              <a:rPr lang="zh-CN" sz="1100">
                <a:solidFill>
                  <a:schemeClr val="dk1"/>
                </a:solidFill>
              </a:rPr>
              <a:t> B-tree focuses on speed; Unique adds value uniqueness enforcement.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>
            <p:ph type="title"/>
          </p:nvPr>
        </p:nvSpPr>
        <p:spPr>
          <a:xfrm>
            <a:off x="275359" y="382223"/>
            <a:ext cx="48411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Calibri"/>
              <a:buNone/>
            </a:pPr>
            <a:r>
              <a:rPr b="1" lang="zh-CN" sz="2500"/>
              <a:t>Insert 15-20 </a:t>
            </a:r>
            <a:r>
              <a:rPr b="1" lang="zh-CN" sz="2500"/>
              <a:t>R</a:t>
            </a:r>
            <a:r>
              <a:rPr b="1" lang="zh-CN" sz="2500"/>
              <a:t>ows of </a:t>
            </a:r>
            <a:r>
              <a:rPr b="1" lang="zh-CN" sz="2500"/>
              <a:t>E</a:t>
            </a:r>
            <a:r>
              <a:rPr b="1" lang="zh-CN" sz="2500"/>
              <a:t>mployee </a:t>
            </a:r>
            <a:r>
              <a:rPr b="1" lang="zh-CN" sz="2500"/>
              <a:t>D</a:t>
            </a:r>
            <a:r>
              <a:rPr b="1" lang="zh-CN" sz="2500"/>
              <a:t>ata:</a:t>
            </a:r>
            <a:endParaRPr b="1" sz="2500"/>
          </a:p>
        </p:txBody>
      </p:sp>
      <p:cxnSp>
        <p:nvCxnSpPr>
          <p:cNvPr id="291" name="Google Shape;291;p35"/>
          <p:cNvCxnSpPr/>
          <p:nvPr/>
        </p:nvCxnSpPr>
        <p:spPr>
          <a:xfrm>
            <a:off x="6188400" y="1544008"/>
            <a:ext cx="0" cy="319354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292" name="Google Shape;29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5514" y="4945704"/>
            <a:ext cx="1463448" cy="11013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5"/>
          <p:cNvSpPr txBox="1"/>
          <p:nvPr/>
        </p:nvSpPr>
        <p:spPr>
          <a:xfrm>
            <a:off x="275350" y="906325"/>
            <a:ext cx="4647000" cy="3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INSERT INTO employee(emp_id, emp_name, department, salary, join_date) VALUES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(1, 'Alice Tan', 'HR', 4200.00, '2021-03-10'),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(2, 'Ben Lee', 'Finance', 6500.00, '2019-11-21'),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(3, 'Chong Wei', 'IT', 7200.00, '2020-07-15'),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(4, 'David Ong', 'Marketing', 2900.00, '2022-02-18'),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(5, 'Emily Lim', 'Finance', 4800.00, '2021-06-01'),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(6, 'Farah Noor', 'HR', 3000.00, '2019-09-05'),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(7, 'Gavin Tan', 'IT', 8900.00, '2018-01-12'),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(8, 'Hui Ying', 'Admin', 2800.00, '2020-10-25'),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(9, 'Isaac Chong', 'Marketing', 5600.00, '2023-04-19'),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(10, 'Jason Wong', 'Finance', 7000.00, '2022-12-08'),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(11, 'Kelly Ng', 'IT', 5200.00, '2021-05-23'),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(12, 'Lydia Teo', 'Admin', 4600.00, '2020-08-30'),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(13, 'Marcus Lim', 'Finance', 2900.00, '2019-04-10'),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(14, 'Natalie Lee', 'Marketing', 3900.00, '2022-07-14'),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(15, 'Oscar Tan', 'IT', 5800.00, '2020-03-11');</a:t>
            </a:r>
            <a:endParaRPr sz="1200"/>
          </a:p>
        </p:txBody>
      </p:sp>
      <p:pic>
        <p:nvPicPr>
          <p:cNvPr id="294" name="Google Shape;29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1025" y="985975"/>
            <a:ext cx="3722741" cy="317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type="title"/>
          </p:nvPr>
        </p:nvSpPr>
        <p:spPr>
          <a:xfrm>
            <a:off x="337705" y="644248"/>
            <a:ext cx="48411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zh-CN" sz="2500"/>
              <a:t>Add a B-Tree index on salary</a:t>
            </a:r>
            <a:r>
              <a:rPr b="1" lang="zh-CN" sz="2500"/>
              <a:t>:</a:t>
            </a:r>
            <a:endParaRPr b="1" sz="2500"/>
          </a:p>
        </p:txBody>
      </p:sp>
      <p:cxnSp>
        <p:nvCxnSpPr>
          <p:cNvPr id="300" name="Google Shape;300;p36"/>
          <p:cNvCxnSpPr/>
          <p:nvPr/>
        </p:nvCxnSpPr>
        <p:spPr>
          <a:xfrm flipH="1">
            <a:off x="232775" y="1899457"/>
            <a:ext cx="8312700" cy="20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301" name="Google Shape;30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5513" y="4945704"/>
            <a:ext cx="1463451" cy="110134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6"/>
          <p:cNvSpPr txBox="1"/>
          <p:nvPr/>
        </p:nvSpPr>
        <p:spPr>
          <a:xfrm>
            <a:off x="275350" y="1275952"/>
            <a:ext cx="611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/>
              <a:t>CREATE INDEX idx_salary ON employee(salary);</a:t>
            </a:r>
            <a:endParaRPr sz="2000"/>
          </a:p>
        </p:txBody>
      </p:sp>
      <p:sp>
        <p:nvSpPr>
          <p:cNvPr id="303" name="Google Shape;303;p36"/>
          <p:cNvSpPr txBox="1"/>
          <p:nvPr>
            <p:ph type="title"/>
          </p:nvPr>
        </p:nvSpPr>
        <p:spPr>
          <a:xfrm>
            <a:off x="270843" y="2164225"/>
            <a:ext cx="48411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zh-CN" sz="2500"/>
              <a:t>Execute and record query time:</a:t>
            </a:r>
            <a:r>
              <a:rPr lang="zh-CN" sz="2500"/>
              <a:t> </a:t>
            </a:r>
            <a:endParaRPr sz="2500"/>
          </a:p>
        </p:txBody>
      </p:sp>
      <p:sp>
        <p:nvSpPr>
          <p:cNvPr id="304" name="Google Shape;304;p36"/>
          <p:cNvSpPr txBox="1"/>
          <p:nvPr/>
        </p:nvSpPr>
        <p:spPr>
          <a:xfrm>
            <a:off x="275350" y="2851066"/>
            <a:ext cx="4633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/>
              <a:t>SELECT * FROM employee WHERE salary BETWEEN 3000 AND 7000; </a:t>
            </a:r>
            <a:endParaRPr sz="2000"/>
          </a:p>
        </p:txBody>
      </p:sp>
      <p:pic>
        <p:nvPicPr>
          <p:cNvPr id="305" name="Google Shape;30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000" y="2093367"/>
            <a:ext cx="392430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73" y="4524114"/>
            <a:ext cx="8839202" cy="206817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6"/>
          <p:cNvSpPr txBox="1"/>
          <p:nvPr/>
        </p:nvSpPr>
        <p:spPr>
          <a:xfrm>
            <a:off x="337700" y="38646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chemeClr val="dk1"/>
                </a:solidFill>
              </a:rPr>
              <a:t>Query time: 0.000 sec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 txBox="1"/>
          <p:nvPr>
            <p:ph type="title"/>
          </p:nvPr>
        </p:nvSpPr>
        <p:spPr>
          <a:xfrm>
            <a:off x="337697" y="644250"/>
            <a:ext cx="79713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Calibri"/>
              <a:buNone/>
            </a:pPr>
            <a:r>
              <a:rPr b="1" lang="zh-CN" sz="2500"/>
              <a:t>Add an index on join_date and compare range query performance</a:t>
            </a:r>
            <a:endParaRPr b="1" sz="2500"/>
          </a:p>
        </p:txBody>
      </p:sp>
      <p:cxnSp>
        <p:nvCxnSpPr>
          <p:cNvPr id="313" name="Google Shape;313;p37"/>
          <p:cNvCxnSpPr/>
          <p:nvPr/>
        </p:nvCxnSpPr>
        <p:spPr>
          <a:xfrm flipH="1">
            <a:off x="232775" y="1899457"/>
            <a:ext cx="8312700" cy="20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314" name="Google Shape;31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5513" y="4945704"/>
            <a:ext cx="1463451" cy="110134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7"/>
          <p:cNvSpPr txBox="1"/>
          <p:nvPr/>
        </p:nvSpPr>
        <p:spPr>
          <a:xfrm>
            <a:off x="275350" y="1168350"/>
            <a:ext cx="751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/>
              <a:t>CREATE INDEX idx_join_date ON employee(join_date);</a:t>
            </a:r>
            <a:endParaRPr sz="2000"/>
          </a:p>
        </p:txBody>
      </p:sp>
      <p:sp>
        <p:nvSpPr>
          <p:cNvPr id="316" name="Google Shape;316;p37"/>
          <p:cNvSpPr txBox="1"/>
          <p:nvPr>
            <p:ph type="title"/>
          </p:nvPr>
        </p:nvSpPr>
        <p:spPr>
          <a:xfrm>
            <a:off x="275343" y="1983900"/>
            <a:ext cx="48411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zh-CN" sz="2500"/>
              <a:t>Execute and record query time:</a:t>
            </a:r>
            <a:r>
              <a:rPr lang="zh-CN" sz="2500"/>
              <a:t> </a:t>
            </a:r>
            <a:endParaRPr sz="2500"/>
          </a:p>
        </p:txBody>
      </p:sp>
      <p:sp>
        <p:nvSpPr>
          <p:cNvPr id="317" name="Google Shape;317;p37"/>
          <p:cNvSpPr txBox="1"/>
          <p:nvPr/>
        </p:nvSpPr>
        <p:spPr>
          <a:xfrm>
            <a:off x="195800" y="2537904"/>
            <a:ext cx="53202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2000"/>
              <a:t>SELECT *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2000"/>
              <a:t>FROM employee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/>
              <a:t>WHERE join_date BETWEEN '2022-01-01' AND '2024-12-31';</a:t>
            </a:r>
            <a:endParaRPr sz="2000"/>
          </a:p>
        </p:txBody>
      </p:sp>
      <p:pic>
        <p:nvPicPr>
          <p:cNvPr id="318" name="Google Shape;31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522175"/>
            <a:ext cx="8839200" cy="31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650" y="4275450"/>
            <a:ext cx="8839200" cy="13463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0" name="Google Shape;320;p37"/>
          <p:cNvGraphicFramePr/>
          <p:nvPr/>
        </p:nvGraphicFramePr>
        <p:xfrm>
          <a:off x="5178400" y="22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{02F6639B-1AB4-4EDE-9493-4892CCA953F9}</a:tableStyleId>
              </a:tblPr>
              <a:tblGrid>
                <a:gridCol w="885825"/>
                <a:gridCol w="809625"/>
                <a:gridCol w="1076325"/>
                <a:gridCol w="8953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100"/>
                        <a:t>Condition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100"/>
                        <a:t>Query Time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100"/>
                        <a:t>key (EXPLAIN)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CN" sz="1100"/>
                        <a:t>rows scanned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Without index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0.000 sec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NULL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15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With index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0.000 sec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idx_join_date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8"/>
          <p:cNvSpPr txBox="1"/>
          <p:nvPr>
            <p:ph type="title"/>
          </p:nvPr>
        </p:nvSpPr>
        <p:spPr>
          <a:xfrm>
            <a:off x="215199" y="318825"/>
            <a:ext cx="49614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zh-CN" sz="2500"/>
              <a:t>Use EXPLAIN to confirm index usage</a:t>
            </a:r>
            <a:endParaRPr b="1" sz="2500"/>
          </a:p>
        </p:txBody>
      </p:sp>
      <p:cxnSp>
        <p:nvCxnSpPr>
          <p:cNvPr id="326" name="Google Shape;326;p38"/>
          <p:cNvCxnSpPr/>
          <p:nvPr/>
        </p:nvCxnSpPr>
        <p:spPr>
          <a:xfrm flipH="1">
            <a:off x="232775" y="1989852"/>
            <a:ext cx="8312700" cy="20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327" name="Google Shape;32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5513" y="4945704"/>
            <a:ext cx="1463451" cy="110134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8"/>
          <p:cNvSpPr txBox="1"/>
          <p:nvPr/>
        </p:nvSpPr>
        <p:spPr>
          <a:xfrm>
            <a:off x="275350" y="753400"/>
            <a:ext cx="8811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2000"/>
              <a:t>EXPLAIN SELECT *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2000"/>
              <a:t>FROM employee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/>
              <a:t>WHERE join_date BETWEEN '2022-01-01' AND '2024-12-31';</a:t>
            </a:r>
            <a:endParaRPr sz="2000"/>
          </a:p>
        </p:txBody>
      </p:sp>
      <p:sp>
        <p:nvSpPr>
          <p:cNvPr id="329" name="Google Shape;329;p38"/>
          <p:cNvSpPr txBox="1"/>
          <p:nvPr>
            <p:ph type="title"/>
          </p:nvPr>
        </p:nvSpPr>
        <p:spPr>
          <a:xfrm>
            <a:off x="275343" y="1983900"/>
            <a:ext cx="48411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zh-CN" sz="2500"/>
              <a:t>Execute and record query time:</a:t>
            </a:r>
            <a:r>
              <a:rPr lang="zh-CN" sz="2500"/>
              <a:t> </a:t>
            </a:r>
            <a:endParaRPr sz="2500"/>
          </a:p>
        </p:txBody>
      </p:sp>
      <p:sp>
        <p:nvSpPr>
          <p:cNvPr id="330" name="Google Shape;330;p38"/>
          <p:cNvSpPr txBox="1"/>
          <p:nvPr/>
        </p:nvSpPr>
        <p:spPr>
          <a:xfrm>
            <a:off x="195800" y="2537904"/>
            <a:ext cx="53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</a:t>
            </a:r>
            <a:r>
              <a:rPr lang="zh-CN"/>
              <a:t>ithout Index：</a:t>
            </a:r>
            <a:endParaRPr/>
          </a:p>
        </p:txBody>
      </p:sp>
      <p:pic>
        <p:nvPicPr>
          <p:cNvPr id="331" name="Google Shape;33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775" y="2879875"/>
            <a:ext cx="8429775" cy="4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8"/>
          <p:cNvSpPr txBox="1"/>
          <p:nvPr/>
        </p:nvSpPr>
        <p:spPr>
          <a:xfrm>
            <a:off x="275350" y="3339204"/>
            <a:ext cx="532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With Index：</a:t>
            </a:r>
            <a:endParaRPr/>
          </a:p>
        </p:txBody>
      </p:sp>
      <p:pic>
        <p:nvPicPr>
          <p:cNvPr id="333" name="Google Shape;33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775" y="3712238"/>
            <a:ext cx="8429775" cy="4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8"/>
          <p:cNvSpPr txBox="1"/>
          <p:nvPr/>
        </p:nvSpPr>
        <p:spPr>
          <a:xfrm>
            <a:off x="252450" y="4297039"/>
            <a:ext cx="839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</a:rPr>
              <a:t>After adding the index, EXPLAIN shows key = idx_join_date and fewer rows scanned.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1"/>
                </a:solidFill>
              </a:rPr>
              <a:t>This confirms that MySQL used the B-Tree index to perform a range scan, decreasing the amount of data accessed.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/>
          <p:nvPr>
            <p:ph type="title"/>
          </p:nvPr>
        </p:nvSpPr>
        <p:spPr>
          <a:xfrm>
            <a:off x="215199" y="427300"/>
            <a:ext cx="49614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zh-CN" sz="2500"/>
              <a:t>Drop Index &amp; Re-run Query</a:t>
            </a:r>
            <a:endParaRPr b="1" sz="2500"/>
          </a:p>
        </p:txBody>
      </p:sp>
      <p:cxnSp>
        <p:nvCxnSpPr>
          <p:cNvPr id="340" name="Google Shape;340;p39"/>
          <p:cNvCxnSpPr/>
          <p:nvPr/>
        </p:nvCxnSpPr>
        <p:spPr>
          <a:xfrm flipH="1">
            <a:off x="215188" y="1372552"/>
            <a:ext cx="8312700" cy="20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341" name="Google Shape;34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5513" y="4945704"/>
            <a:ext cx="1463451" cy="110134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9"/>
          <p:cNvSpPr txBox="1"/>
          <p:nvPr/>
        </p:nvSpPr>
        <p:spPr>
          <a:xfrm>
            <a:off x="166350" y="879950"/>
            <a:ext cx="881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/>
              <a:t>DROP INDEX idx_join_date ON employee;</a:t>
            </a:r>
            <a:endParaRPr sz="2000"/>
          </a:p>
        </p:txBody>
      </p:sp>
      <p:sp>
        <p:nvSpPr>
          <p:cNvPr id="343" name="Google Shape;343;p39"/>
          <p:cNvSpPr txBox="1"/>
          <p:nvPr>
            <p:ph type="title"/>
          </p:nvPr>
        </p:nvSpPr>
        <p:spPr>
          <a:xfrm>
            <a:off x="161593" y="1446100"/>
            <a:ext cx="48411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zh-CN" sz="2500"/>
              <a:t>Re-run range query</a:t>
            </a:r>
            <a:endParaRPr sz="2500"/>
          </a:p>
        </p:txBody>
      </p:sp>
      <p:sp>
        <p:nvSpPr>
          <p:cNvPr id="344" name="Google Shape;344;p39"/>
          <p:cNvSpPr txBox="1"/>
          <p:nvPr/>
        </p:nvSpPr>
        <p:spPr>
          <a:xfrm>
            <a:off x="161600" y="1888838"/>
            <a:ext cx="88113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1"/>
                </a:solidFill>
              </a:rPr>
              <a:t>SELECT *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1"/>
                </a:solidFill>
              </a:rPr>
              <a:t>FROM employee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1"/>
                </a:solidFill>
              </a:rPr>
              <a:t>WHERE join_date BETWEEN '2022-01-01' AND '2024-12-31';</a:t>
            </a:r>
            <a:endParaRPr sz="1800"/>
          </a:p>
        </p:txBody>
      </p:sp>
      <p:pic>
        <p:nvPicPr>
          <p:cNvPr id="345" name="Google Shape;34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200" y="3033550"/>
            <a:ext cx="8429775" cy="45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9"/>
          <p:cNvSpPr txBox="1"/>
          <p:nvPr/>
        </p:nvSpPr>
        <p:spPr>
          <a:xfrm>
            <a:off x="6547675" y="24951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chemeClr val="dk1"/>
                </a:solidFill>
              </a:rPr>
              <a:t>Query time: 0.000 sec</a:t>
            </a:r>
            <a:endParaRPr/>
          </a:p>
        </p:txBody>
      </p:sp>
      <p:sp>
        <p:nvSpPr>
          <p:cNvPr id="347" name="Google Shape;347;p39"/>
          <p:cNvSpPr txBox="1"/>
          <p:nvPr/>
        </p:nvSpPr>
        <p:spPr>
          <a:xfrm>
            <a:off x="95550" y="3628300"/>
            <a:ext cx="8952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After removing the index, the same query still shows 0.000 sec due to the small 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However, EXPLAIN indicates key = NULL and more rows scanned, meaning MySQL must perform a full table scan. This proves that without the index, MySQL becomes less efficient and must check more rows to fulfill the condition.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/>
          <p:nvPr>
            <p:ph type="title"/>
          </p:nvPr>
        </p:nvSpPr>
        <p:spPr>
          <a:xfrm>
            <a:off x="215200" y="427300"/>
            <a:ext cx="65844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zh-CN" sz="2500"/>
              <a:t>Discuss why B-Tree is ideal for range &amp; sorting?</a:t>
            </a:r>
            <a:endParaRPr b="1" sz="2500"/>
          </a:p>
        </p:txBody>
      </p:sp>
      <p:pic>
        <p:nvPicPr>
          <p:cNvPr id="353" name="Google Shape;3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5513" y="4945704"/>
            <a:ext cx="1463451" cy="110134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0"/>
          <p:cNvSpPr txBox="1"/>
          <p:nvPr/>
        </p:nvSpPr>
        <p:spPr>
          <a:xfrm>
            <a:off x="166350" y="1118000"/>
            <a:ext cx="88113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1"/>
                </a:solidFill>
              </a:rPr>
              <a:t>B-Tree indexes store values in sorted hierarchical order.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1"/>
                </a:solidFill>
              </a:rPr>
              <a:t>When performing range queries, MySQL can quickly navigate to the start of the range and then read sequentially, avoiding full scans.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1"/>
                </a:solidFill>
              </a:rPr>
              <a:t>Because the index is already sorted, sorting operations (e.g., ORDER BY) are faster as no extra sort step is needed.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1"/>
                </a:solidFill>
              </a:rPr>
              <a:t>This makes B-Tree indexes ideal for range filtering and sorting workloads.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1"/>
          <p:cNvSpPr txBox="1"/>
          <p:nvPr/>
        </p:nvSpPr>
        <p:spPr>
          <a:xfrm>
            <a:off x="2735336" y="1987314"/>
            <a:ext cx="35301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100"/>
          </a:p>
        </p:txBody>
      </p:sp>
      <p:sp>
        <p:nvSpPr>
          <p:cNvPr id="360" name="Google Shape;360;p41"/>
          <p:cNvSpPr txBox="1"/>
          <p:nvPr/>
        </p:nvSpPr>
        <p:spPr>
          <a:xfrm>
            <a:off x="3325850" y="3057717"/>
            <a:ext cx="1246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univteknologimalaysia</a:t>
            </a:r>
            <a:endParaRPr sz="1100"/>
          </a:p>
        </p:txBody>
      </p:sp>
      <p:grpSp>
        <p:nvGrpSpPr>
          <p:cNvPr id="361" name="Google Shape;361;p41"/>
          <p:cNvGrpSpPr/>
          <p:nvPr/>
        </p:nvGrpSpPr>
        <p:grpSpPr>
          <a:xfrm>
            <a:off x="2524664" y="3050335"/>
            <a:ext cx="210163" cy="211461"/>
            <a:chOff x="2163763" y="-1266825"/>
            <a:chExt cx="1028700" cy="1035050"/>
          </a:xfrm>
        </p:grpSpPr>
        <p:sp>
          <p:nvSpPr>
            <p:cNvPr id="362" name="Google Shape;362;p41"/>
            <p:cNvSpPr/>
            <p:nvPr/>
          </p:nvSpPr>
          <p:spPr>
            <a:xfrm>
              <a:off x="2163763" y="-1266825"/>
              <a:ext cx="1028700" cy="1035050"/>
            </a:xfrm>
            <a:custGeom>
              <a:rect b="b" l="l" r="r" t="t"/>
              <a:pathLst>
                <a:path extrusionOk="0" h="396" w="396">
                  <a:moveTo>
                    <a:pt x="198" y="0"/>
                  </a:moveTo>
                  <a:cubicBezTo>
                    <a:pt x="252" y="0"/>
                    <a:pt x="302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2" y="374"/>
                    <a:pt x="252" y="396"/>
                    <a:pt x="198" y="396"/>
                  </a:cubicBezTo>
                  <a:cubicBezTo>
                    <a:pt x="143" y="396"/>
                    <a:pt x="93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3" y="22"/>
                    <a:pt x="143" y="0"/>
                    <a:pt x="198" y="0"/>
                  </a:cubicBezTo>
                  <a:close/>
                  <a:moveTo>
                    <a:pt x="327" y="69"/>
                  </a:moveTo>
                  <a:cubicBezTo>
                    <a:pt x="294" y="36"/>
                    <a:pt x="248" y="15"/>
                    <a:pt x="198" y="15"/>
                  </a:cubicBezTo>
                  <a:cubicBezTo>
                    <a:pt x="147" y="15"/>
                    <a:pt x="102" y="36"/>
                    <a:pt x="69" y="69"/>
                  </a:cubicBezTo>
                  <a:cubicBezTo>
                    <a:pt x="36" y="102"/>
                    <a:pt x="15" y="147"/>
                    <a:pt x="15" y="198"/>
                  </a:cubicBezTo>
                  <a:cubicBezTo>
                    <a:pt x="15" y="248"/>
                    <a:pt x="36" y="294"/>
                    <a:pt x="69" y="327"/>
                  </a:cubicBezTo>
                  <a:cubicBezTo>
                    <a:pt x="102" y="360"/>
                    <a:pt x="147" y="380"/>
                    <a:pt x="198" y="380"/>
                  </a:cubicBezTo>
                  <a:cubicBezTo>
                    <a:pt x="248" y="380"/>
                    <a:pt x="294" y="360"/>
                    <a:pt x="327" y="327"/>
                  </a:cubicBezTo>
                  <a:cubicBezTo>
                    <a:pt x="360" y="294"/>
                    <a:pt x="380" y="248"/>
                    <a:pt x="380" y="198"/>
                  </a:cubicBezTo>
                  <a:cubicBezTo>
                    <a:pt x="380" y="147"/>
                    <a:pt x="360" y="102"/>
                    <a:pt x="327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41"/>
            <p:cNvSpPr/>
            <p:nvPr/>
          </p:nvSpPr>
          <p:spPr>
            <a:xfrm>
              <a:off x="2554288" y="-1014413"/>
              <a:ext cx="246063" cy="528638"/>
            </a:xfrm>
            <a:custGeom>
              <a:rect b="b" l="l" r="r" t="t"/>
              <a:pathLst>
                <a:path extrusionOk="0" h="202" w="95">
                  <a:moveTo>
                    <a:pt x="63" y="60"/>
                  </a:moveTo>
                  <a:cubicBezTo>
                    <a:pt x="63" y="44"/>
                    <a:pt x="63" y="44"/>
                    <a:pt x="63" y="44"/>
                  </a:cubicBezTo>
                  <a:cubicBezTo>
                    <a:pt x="63" y="36"/>
                    <a:pt x="68" y="34"/>
                    <a:pt x="72" y="34"/>
                  </a:cubicBezTo>
                  <a:cubicBezTo>
                    <a:pt x="75" y="34"/>
                    <a:pt x="94" y="34"/>
                    <a:pt x="94" y="3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21" y="25"/>
                    <a:pt x="21" y="42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21" y="147"/>
                    <a:pt x="21" y="202"/>
                    <a:pt x="21" y="202"/>
                  </a:cubicBezTo>
                  <a:cubicBezTo>
                    <a:pt x="61" y="202"/>
                    <a:pt x="61" y="202"/>
                    <a:pt x="61" y="202"/>
                  </a:cubicBezTo>
                  <a:cubicBezTo>
                    <a:pt x="61" y="202"/>
                    <a:pt x="61" y="146"/>
                    <a:pt x="61" y="101"/>
                  </a:cubicBezTo>
                  <a:cubicBezTo>
                    <a:pt x="91" y="101"/>
                    <a:pt x="91" y="101"/>
                    <a:pt x="91" y="101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5" y="60"/>
                    <a:pt x="95" y="60"/>
                    <a:pt x="95" y="60"/>
                  </a:cubicBezTo>
                  <a:lnTo>
                    <a:pt x="63" y="6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41"/>
          <p:cNvGrpSpPr/>
          <p:nvPr/>
        </p:nvGrpSpPr>
        <p:grpSpPr>
          <a:xfrm>
            <a:off x="5648332" y="3057810"/>
            <a:ext cx="209839" cy="211461"/>
            <a:chOff x="3470276" y="-1266825"/>
            <a:chExt cx="1027113" cy="1035050"/>
          </a:xfrm>
        </p:grpSpPr>
        <p:sp>
          <p:nvSpPr>
            <p:cNvPr id="365" name="Google Shape;365;p41"/>
            <p:cNvSpPr/>
            <p:nvPr/>
          </p:nvSpPr>
          <p:spPr>
            <a:xfrm>
              <a:off x="3470276" y="-1266825"/>
              <a:ext cx="1027113" cy="1035050"/>
            </a:xfrm>
            <a:custGeom>
              <a:rect b="b" l="l" r="r" t="t"/>
              <a:pathLst>
                <a:path extrusionOk="0" h="396" w="396">
                  <a:moveTo>
                    <a:pt x="198" y="0"/>
                  </a:moveTo>
                  <a:cubicBezTo>
                    <a:pt x="253" y="0"/>
                    <a:pt x="303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3" y="374"/>
                    <a:pt x="253" y="396"/>
                    <a:pt x="198" y="396"/>
                  </a:cubicBezTo>
                  <a:cubicBezTo>
                    <a:pt x="144" y="396"/>
                    <a:pt x="94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4" y="22"/>
                    <a:pt x="144" y="0"/>
                    <a:pt x="198" y="0"/>
                  </a:cubicBezTo>
                  <a:close/>
                  <a:moveTo>
                    <a:pt x="328" y="69"/>
                  </a:moveTo>
                  <a:cubicBezTo>
                    <a:pt x="294" y="36"/>
                    <a:pt x="249" y="15"/>
                    <a:pt x="198" y="15"/>
                  </a:cubicBezTo>
                  <a:cubicBezTo>
                    <a:pt x="148" y="15"/>
                    <a:pt x="102" y="36"/>
                    <a:pt x="69" y="69"/>
                  </a:cubicBezTo>
                  <a:cubicBezTo>
                    <a:pt x="36" y="102"/>
                    <a:pt x="16" y="147"/>
                    <a:pt x="16" y="198"/>
                  </a:cubicBezTo>
                  <a:cubicBezTo>
                    <a:pt x="16" y="248"/>
                    <a:pt x="36" y="294"/>
                    <a:pt x="69" y="327"/>
                  </a:cubicBezTo>
                  <a:cubicBezTo>
                    <a:pt x="102" y="360"/>
                    <a:pt x="148" y="380"/>
                    <a:pt x="198" y="380"/>
                  </a:cubicBezTo>
                  <a:cubicBezTo>
                    <a:pt x="249" y="380"/>
                    <a:pt x="294" y="360"/>
                    <a:pt x="328" y="327"/>
                  </a:cubicBezTo>
                  <a:cubicBezTo>
                    <a:pt x="361" y="294"/>
                    <a:pt x="381" y="248"/>
                    <a:pt x="381" y="198"/>
                  </a:cubicBezTo>
                  <a:cubicBezTo>
                    <a:pt x="381" y="147"/>
                    <a:pt x="361" y="102"/>
                    <a:pt x="328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41"/>
            <p:cNvSpPr/>
            <p:nvPr/>
          </p:nvSpPr>
          <p:spPr>
            <a:xfrm>
              <a:off x="3727451" y="-1011238"/>
              <a:ext cx="515938" cy="520700"/>
            </a:xfrm>
            <a:custGeom>
              <a:rect b="b" l="l" r="r" t="t"/>
              <a:pathLst>
                <a:path extrusionOk="0" h="199" w="199">
                  <a:moveTo>
                    <a:pt x="49" y="100"/>
                  </a:moveTo>
                  <a:cubicBezTo>
                    <a:pt x="49" y="72"/>
                    <a:pt x="71" y="49"/>
                    <a:pt x="99" y="49"/>
                  </a:cubicBezTo>
                  <a:cubicBezTo>
                    <a:pt x="127" y="49"/>
                    <a:pt x="150" y="72"/>
                    <a:pt x="150" y="100"/>
                  </a:cubicBezTo>
                  <a:cubicBezTo>
                    <a:pt x="150" y="128"/>
                    <a:pt x="127" y="150"/>
                    <a:pt x="99" y="150"/>
                  </a:cubicBezTo>
                  <a:cubicBezTo>
                    <a:pt x="71" y="150"/>
                    <a:pt x="49" y="128"/>
                    <a:pt x="49" y="100"/>
                  </a:cubicBezTo>
                  <a:close/>
                  <a:moveTo>
                    <a:pt x="152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78"/>
                    <a:pt x="21" y="199"/>
                    <a:pt x="47" y="199"/>
                  </a:cubicBezTo>
                  <a:cubicBezTo>
                    <a:pt x="152" y="199"/>
                    <a:pt x="152" y="199"/>
                    <a:pt x="152" y="199"/>
                  </a:cubicBezTo>
                  <a:cubicBezTo>
                    <a:pt x="178" y="199"/>
                    <a:pt x="199" y="178"/>
                    <a:pt x="199" y="152"/>
                  </a:cubicBezTo>
                  <a:cubicBezTo>
                    <a:pt x="199" y="47"/>
                    <a:pt x="199" y="47"/>
                    <a:pt x="199" y="47"/>
                  </a:cubicBezTo>
                  <a:cubicBezTo>
                    <a:pt x="199" y="21"/>
                    <a:pt x="178" y="0"/>
                    <a:pt x="152" y="0"/>
                  </a:cubicBezTo>
                  <a:close/>
                  <a:moveTo>
                    <a:pt x="47" y="12"/>
                  </a:moveTo>
                  <a:cubicBezTo>
                    <a:pt x="152" y="12"/>
                    <a:pt x="152" y="12"/>
                    <a:pt x="152" y="12"/>
                  </a:cubicBezTo>
                  <a:cubicBezTo>
                    <a:pt x="171" y="12"/>
                    <a:pt x="187" y="28"/>
                    <a:pt x="187" y="47"/>
                  </a:cubicBezTo>
                  <a:cubicBezTo>
                    <a:pt x="187" y="152"/>
                    <a:pt x="187" y="152"/>
                    <a:pt x="187" y="152"/>
                  </a:cubicBezTo>
                  <a:cubicBezTo>
                    <a:pt x="187" y="171"/>
                    <a:pt x="171" y="187"/>
                    <a:pt x="152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28" y="187"/>
                    <a:pt x="12" y="171"/>
                    <a:pt x="12" y="152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28"/>
                    <a:pt x="28" y="12"/>
                    <a:pt x="47" y="12"/>
                  </a:cubicBezTo>
                  <a:close/>
                  <a:moveTo>
                    <a:pt x="162" y="27"/>
                  </a:moveTo>
                  <a:cubicBezTo>
                    <a:pt x="156" y="27"/>
                    <a:pt x="152" y="32"/>
                    <a:pt x="152" y="37"/>
                  </a:cubicBezTo>
                  <a:cubicBezTo>
                    <a:pt x="152" y="43"/>
                    <a:pt x="156" y="48"/>
                    <a:pt x="162" y="48"/>
                  </a:cubicBezTo>
                  <a:cubicBezTo>
                    <a:pt x="168" y="48"/>
                    <a:pt x="173" y="43"/>
                    <a:pt x="173" y="37"/>
                  </a:cubicBezTo>
                  <a:cubicBezTo>
                    <a:pt x="173" y="32"/>
                    <a:pt x="168" y="27"/>
                    <a:pt x="162" y="27"/>
                  </a:cubicBezTo>
                  <a:close/>
                  <a:moveTo>
                    <a:pt x="163" y="100"/>
                  </a:moveTo>
                  <a:cubicBezTo>
                    <a:pt x="163" y="64"/>
                    <a:pt x="135" y="36"/>
                    <a:pt x="99" y="36"/>
                  </a:cubicBezTo>
                  <a:cubicBezTo>
                    <a:pt x="64" y="36"/>
                    <a:pt x="35" y="64"/>
                    <a:pt x="35" y="100"/>
                  </a:cubicBezTo>
                  <a:cubicBezTo>
                    <a:pt x="35" y="135"/>
                    <a:pt x="64" y="164"/>
                    <a:pt x="99" y="164"/>
                  </a:cubicBezTo>
                  <a:cubicBezTo>
                    <a:pt x="135" y="164"/>
                    <a:pt x="163" y="135"/>
                    <a:pt x="163" y="10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7" name="Google Shape;367;p41"/>
          <p:cNvSpPr txBox="1"/>
          <p:nvPr/>
        </p:nvSpPr>
        <p:spPr>
          <a:xfrm>
            <a:off x="5033883" y="3054045"/>
            <a:ext cx="22725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utm.my</a:t>
            </a:r>
            <a:endParaRPr sz="1100"/>
          </a:p>
        </p:txBody>
      </p:sp>
      <p:sp>
        <p:nvSpPr>
          <p:cNvPr id="368" name="Google Shape;368;p41"/>
          <p:cNvSpPr/>
          <p:nvPr/>
        </p:nvSpPr>
        <p:spPr>
          <a:xfrm>
            <a:off x="2790349" y="3057717"/>
            <a:ext cx="209520" cy="209520"/>
          </a:xfrm>
          <a:custGeom>
            <a:rect b="b" l="l" r="r" t="t"/>
            <a:pathLst>
              <a:path extrusionOk="0" h="21600" w="2160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4275" lIns="14275" spcFirstLastPara="1" rIns="14275" wrap="square" tIns="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3054147" y="3057717"/>
            <a:ext cx="209520" cy="209520"/>
          </a:xfrm>
          <a:custGeom>
            <a:rect b="b" l="l" r="r" t="t"/>
            <a:pathLst>
              <a:path extrusionOk="0" h="21600" w="21600">
                <a:moveTo>
                  <a:pt x="14324" y="12090"/>
                </a:moveTo>
                <a:cubicBezTo>
                  <a:pt x="14019" y="12090"/>
                  <a:pt x="14019" y="12428"/>
                  <a:pt x="14019" y="12428"/>
                </a:cubicBezTo>
                <a:lnTo>
                  <a:pt x="14019" y="12863"/>
                </a:lnTo>
                <a:lnTo>
                  <a:pt x="14628" y="12863"/>
                </a:lnTo>
                <a:lnTo>
                  <a:pt x="14628" y="12428"/>
                </a:lnTo>
                <a:cubicBezTo>
                  <a:pt x="14628" y="12428"/>
                  <a:pt x="14628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19" y="13348"/>
                </a:lnTo>
                <a:lnTo>
                  <a:pt x="14019" y="14072"/>
                </a:lnTo>
                <a:cubicBezTo>
                  <a:pt x="14019" y="14072"/>
                  <a:pt x="14019" y="14411"/>
                  <a:pt x="14324" y="14411"/>
                </a:cubicBezTo>
                <a:cubicBezTo>
                  <a:pt x="14628" y="14411"/>
                  <a:pt x="14628" y="14072"/>
                  <a:pt x="14628" y="14072"/>
                </a:cubicBezTo>
                <a:lnTo>
                  <a:pt x="14628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1" y="14266"/>
                  <a:pt x="13411" y="14266"/>
                </a:cubicBezTo>
                <a:lnTo>
                  <a:pt x="13411" y="12380"/>
                </a:lnTo>
                <a:cubicBezTo>
                  <a:pt x="13411" y="12380"/>
                  <a:pt x="13411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4" y="14169"/>
                </a:moveTo>
                <a:cubicBezTo>
                  <a:pt x="12904" y="14169"/>
                  <a:pt x="12904" y="14943"/>
                  <a:pt x="12347" y="14943"/>
                </a:cubicBezTo>
                <a:cubicBezTo>
                  <a:pt x="12005" y="14943"/>
                  <a:pt x="11798" y="14762"/>
                  <a:pt x="11687" y="14621"/>
                </a:cubicBezTo>
                <a:lnTo>
                  <a:pt x="11687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7" y="10446"/>
                </a:lnTo>
                <a:lnTo>
                  <a:pt x="11687" y="11888"/>
                </a:lnTo>
                <a:cubicBezTo>
                  <a:pt x="11788" y="11782"/>
                  <a:pt x="12036" y="11558"/>
                  <a:pt x="12347" y="11558"/>
                </a:cubicBezTo>
                <a:cubicBezTo>
                  <a:pt x="12752" y="11558"/>
                  <a:pt x="12904" y="11896"/>
                  <a:pt x="12904" y="12332"/>
                </a:cubicBezTo>
                <a:cubicBezTo>
                  <a:pt x="12904" y="12332"/>
                  <a:pt x="12904" y="14169"/>
                  <a:pt x="12904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3" y="11074"/>
                </a:lnTo>
                <a:lnTo>
                  <a:pt x="6363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0" y="9334"/>
                  <a:pt x="7074" y="9430"/>
                  <a:pt x="7074" y="9430"/>
                </a:cubicBezTo>
                <a:cubicBezTo>
                  <a:pt x="6233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3" y="16103"/>
                  <a:pt x="7074" y="16103"/>
                </a:cubicBezTo>
                <a:cubicBezTo>
                  <a:pt x="7074" y="16103"/>
                  <a:pt x="8905" y="16200"/>
                  <a:pt x="10800" y="16200"/>
                </a:cubicBezTo>
                <a:cubicBezTo>
                  <a:pt x="12630" y="16200"/>
                  <a:pt x="14527" y="16103"/>
                  <a:pt x="14527" y="16103"/>
                </a:cubicBezTo>
                <a:cubicBezTo>
                  <a:pt x="15367" y="16103"/>
                  <a:pt x="16048" y="15454"/>
                  <a:pt x="16048" y="14652"/>
                </a:cubicBezTo>
                <a:cubicBezTo>
                  <a:pt x="16048" y="14652"/>
                  <a:pt x="16200" y="13700"/>
                  <a:pt x="16200" y="12767"/>
                </a:cubicBezTo>
                <a:cubicBezTo>
                  <a:pt x="16200" y="11814"/>
                  <a:pt x="16048" y="10881"/>
                  <a:pt x="16048" y="10881"/>
                </a:cubicBezTo>
                <a:cubicBezTo>
                  <a:pt x="16048" y="10080"/>
                  <a:pt x="15367" y="9430"/>
                  <a:pt x="14527" y="943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992" y="12090"/>
                </a:moveTo>
                <a:cubicBezTo>
                  <a:pt x="11860" y="12090"/>
                  <a:pt x="11757" y="12168"/>
                  <a:pt x="11687" y="12243"/>
                </a:cubicBezTo>
                <a:lnTo>
                  <a:pt x="11687" y="14276"/>
                </a:lnTo>
                <a:cubicBezTo>
                  <a:pt x="11751" y="14345"/>
                  <a:pt x="11847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8"/>
                </a:lnTo>
                <a:cubicBezTo>
                  <a:pt x="12296" y="12428"/>
                  <a:pt x="12245" y="12090"/>
                  <a:pt x="11992" y="1209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2397" y="8801"/>
                </a:moveTo>
                <a:cubicBezTo>
                  <a:pt x="12802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6" y="8751"/>
                </a:lnTo>
                <a:lnTo>
                  <a:pt x="13766" y="5878"/>
                </a:lnTo>
                <a:lnTo>
                  <a:pt x="13158" y="5878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49" y="8348"/>
                  <a:pt x="12549" y="8196"/>
                  <a:pt x="12549" y="8196"/>
                </a:cubicBezTo>
                <a:lnTo>
                  <a:pt x="12549" y="5878"/>
                </a:lnTo>
                <a:lnTo>
                  <a:pt x="11941" y="5878"/>
                </a:lnTo>
                <a:lnTo>
                  <a:pt x="11941" y="8398"/>
                </a:lnTo>
                <a:cubicBezTo>
                  <a:pt x="11941" y="8398"/>
                  <a:pt x="11992" y="8801"/>
                  <a:pt x="12397" y="8801"/>
                </a:cubicBezTo>
                <a:moveTo>
                  <a:pt x="10166" y="6634"/>
                </a:moveTo>
                <a:cubicBezTo>
                  <a:pt x="10166" y="6467"/>
                  <a:pt x="10302" y="6332"/>
                  <a:pt x="10470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0" y="8348"/>
                </a:cubicBezTo>
                <a:cubicBezTo>
                  <a:pt x="10302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8"/>
                  <a:pt x="10572" y="5878"/>
                </a:cubicBezTo>
                <a:lnTo>
                  <a:pt x="10369" y="5878"/>
                </a:lnTo>
                <a:cubicBezTo>
                  <a:pt x="9921" y="5878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4275" lIns="14275" spcFirstLastPara="1" rIns="14275" wrap="square" tIns="1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263" y="3053148"/>
            <a:ext cx="216888" cy="21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1"/>
          <p:cNvSpPr txBox="1"/>
          <p:nvPr/>
        </p:nvSpPr>
        <p:spPr>
          <a:xfrm>
            <a:off x="5864374" y="3052023"/>
            <a:ext cx="1396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utmofficial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2048" y="3057717"/>
            <a:ext cx="216887" cy="216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